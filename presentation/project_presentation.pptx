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4008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CONSTRUCTION PROJECT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DELAY RISK PREDICTION SYSTEM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</a:rPr>
              <a:t>Using SQL &amp; Power BI for Data-Driven Risk Assessment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Syed Rehan Syed </a:t>
            </a:r>
            <a:r>
              <a:rPr lang="en-US" sz="1800" dirty="0" err="1">
                <a:solidFill>
                  <a:srgbClr val="FFFFFF"/>
                </a:solidFill>
              </a:rPr>
              <a:t>Hamedsaleem</a:t>
            </a:r>
            <a:r>
              <a:rPr lang="en-US" sz="1600" dirty="0">
                <a:solidFill>
                  <a:srgbClr val="FFFFFF"/>
                </a:solidFill>
              </a:rPr>
              <a:t>
</a:t>
            </a:r>
            <a:endParaRPr lang="en-US" sz="1800" dirty="0"/>
          </a:p>
          <a:p>
            <a:pPr marL="0" indent="0" algn="ctr">
              <a:buNone/>
            </a:pPr>
            <a:r>
              <a:rPr lang="en-US" sz="1600" dirty="0" err="1">
                <a:solidFill>
                  <a:srgbClr val="FFFFFF"/>
                </a:solidFill>
              </a:rPr>
              <a:t>Imarticus</a:t>
            </a:r>
            <a:r>
              <a:rPr lang="en-US" sz="1600" dirty="0">
                <a:solidFill>
                  <a:srgbClr val="FFFFFF"/>
                </a:solidFill>
              </a:rPr>
              <a:t> Learning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ACKNOWLEDGEMENT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I extend my sincere gratitude to </a:t>
            </a:r>
            <a:r>
              <a:rPr lang="en-US" sz="2000" b="1" dirty="0">
                <a:solidFill>
                  <a:srgbClr val="E67E22"/>
                </a:solidFill>
              </a:rPr>
              <a:t>Utkarsh Tiwari </a:t>
            </a:r>
            <a:r>
              <a:rPr lang="en-US" sz="2000" dirty="0">
                <a:solidFill>
                  <a:srgbClr val="000000"/>
                </a:solidFill>
              </a:rPr>
              <a:t>for their invaluable guidance and support throughout this capstone project.
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I am thankful to </a:t>
            </a:r>
            <a:r>
              <a:rPr lang="en-US" sz="2000" b="1" dirty="0" err="1">
                <a:solidFill>
                  <a:srgbClr val="E67E22"/>
                </a:solidFill>
              </a:rPr>
              <a:t>Imarticus</a:t>
            </a:r>
            <a:r>
              <a:rPr lang="en-US" sz="2000" b="1" dirty="0">
                <a:solidFill>
                  <a:srgbClr val="E67E22"/>
                </a:solidFill>
              </a:rPr>
              <a:t> Learning</a:t>
            </a:r>
            <a:r>
              <a:rPr lang="en-US" sz="2000" dirty="0">
                <a:solidFill>
                  <a:srgbClr val="000000"/>
                </a:solidFill>
              </a:rPr>
              <a:t> for providing the resources and environment necessary for this research.
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I also appreciate my family and peers for their continuous encouragement.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OBJECTIVE &amp; MOTIVATION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618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</a:rPr>
              <a:t>Develop a predictive risk assessment system to identify construction projects at high risk of delays using SQL and Power BI.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1188720"/>
            <a:ext cx="41148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2618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MOTIVATION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</a:rPr>
              <a:t>• Construction delays cost billions annually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</a:rPr>
              <a:t>• Lack of early warning systems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</a:rPr>
              <a:t>• Need for proactive risk management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</a:rPr>
              <a:t>• Replace gut-feel with data-driven decisions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</a:rPr>
              <a:t>TECHNICAL CHALLENGE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4A4A4A"/>
                </a:solidFill>
              </a:rPr>
              <a:t>How to combine multiple risk factors (delays, blocked tasks, issues, weather) into a single meaningful risk score that actually differentiates between projects?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PROJECT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645920" cy="2011680"/>
          </a:xfrm>
          <a:prstGeom prst="rect">
            <a:avLst/>
          </a:prstGeom>
          <a:solidFill>
            <a:srgbClr val="2E75B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3716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A5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Ingestion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6 CSV files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28 projects, 174K records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2560320"/>
            <a:ext cx="274320" cy="365760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10" name="Shape 8"/>
          <p:cNvSpPr/>
          <p:nvPr/>
        </p:nvSpPr>
        <p:spPr>
          <a:xfrm>
            <a:off x="2834640" y="1645920"/>
            <a:ext cx="1645920" cy="2011680"/>
          </a:xfrm>
          <a:prstGeom prst="rect">
            <a:avLst/>
          </a:prstGeom>
          <a:solidFill>
            <a:srgbClr val="E67E22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3716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A5F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3464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SQL Processing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2468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MySQL database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Helper tables &amp; aggregation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2560320"/>
            <a:ext cx="274320" cy="365760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1645920"/>
            <a:ext cx="1645920" cy="2011680"/>
          </a:xfrm>
          <a:prstGeom prst="rect">
            <a:avLst/>
          </a:prstGeom>
          <a:solidFill>
            <a:srgbClr val="2E75B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13716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A5F"/>
                </a:solidFill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93776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Model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2468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Star schema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9 relationships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75120" y="2560320"/>
            <a:ext cx="274320" cy="365760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0" y="1645920"/>
            <a:ext cx="1645920" cy="2011680"/>
          </a:xfrm>
          <a:prstGeom prst="rect">
            <a:avLst/>
          </a:prstGeom>
          <a:solidFill>
            <a:srgbClr val="E67E22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89520" y="13716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A5F"/>
                </a:solidFill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04088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Power BI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32320" y="2468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43 DAX measures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9 dashboard pages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DATA INGESTION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solidFill>
            <a:srgbClr val="2E75B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Records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Description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</a:rPr>
              <a:t>projects.csv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A4A4A"/>
                </a:solidFill>
              </a:rPr>
              <a:t>28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</a:rPr>
              <a:t>Project master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</a:rPr>
              <a:t>tasks.csv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A4A4A"/>
                </a:solidFill>
              </a:rPr>
              <a:t>5,746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</a:rPr>
              <a:t>Individual tasks with critical path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</a:rPr>
              <a:t>task_progress_updates.csv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A4A4A"/>
                </a:solidFill>
              </a:rPr>
              <a:t>137,899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</a:rPr>
              <a:t>Daily/weekly progress tracking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</a:rPr>
              <a:t>issues_ncr_rfi.csv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246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A4A4A"/>
                </a:solidFill>
              </a:rPr>
              <a:t>1,609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</a:rPr>
              <a:t>Issues and non-conformance reports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</a:rPr>
              <a:t>task_dependencies.csv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74720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A4A4A"/>
                </a:solidFill>
              </a:rPr>
              <a:t>8,619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3703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</a:rPr>
              <a:t>Task dependency relationships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</a:rPr>
              <a:t>weather_log.csv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7472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A4A4A"/>
                </a:solidFill>
              </a:rPr>
              <a:t>20,824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0" y="4160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</a:rPr>
              <a:t>Daily weather and work stoppage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E67E22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Tool: MySQL Workbench Table Data Import Wizard | Total: 174,525 records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SQL DATA PREPROCESSING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APPROACH: Multi-stage transformation using helper tables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9202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1920240" cy="5486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48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Stage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Dimension Tables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788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• DimProjects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• DimTasks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• DimDelayReasons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2103120"/>
            <a:ext cx="19202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2103120"/>
            <a:ext cx="1920240" cy="5486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2148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Stage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51760" y="239572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Helper Tables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88920" y="2788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• 7 temp tables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88920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• ROW_NUMBER()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8892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• Aggregations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103120"/>
            <a:ext cx="19202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103120"/>
            <a:ext cx="1920240" cy="5486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148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Stage 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239572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Fact Tables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2788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• FactProjectMetrics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• FactTaskProgress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• FactIssues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3749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• FactWeatherImpact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40880" y="2103120"/>
            <a:ext cx="19202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0" y="2103120"/>
            <a:ext cx="1920240" cy="5486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0" y="2148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Stage 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40880" y="239572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Views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78040" y="2788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• vw_ProjectRiskSummary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78040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• vw_ContractorPerformance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7804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• vw_CriticalPathRisk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RISK SCORE 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097280"/>
          </a:xfrm>
          <a:prstGeom prst="rect">
            <a:avLst/>
          </a:prstGeom>
          <a:solidFill>
            <a:srgbClr val="DC3545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CHALLENGE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A4A4A"/>
                </a:solidFill>
              </a:rPr>
              <a:t>Initial formula: All projects scored 15.7 (no differentiation)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097280"/>
          </a:xfrm>
          <a:prstGeom prst="rect">
            <a:avLst/>
          </a:prstGeom>
          <a:solidFill>
            <a:srgbClr val="28A745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SOLUTION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A4A4A"/>
                </a:solidFill>
              </a:rPr>
              <a:t>Variance analysis: Weight only metrics that actually vary between projects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2286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FINAL FORMULA (Variance-Based Weighting)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4A4A"/>
                </a:solidFill>
              </a:rPr>
              <a:t>Delay Days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</a:rPr>
              <a:t>53.8% variance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03520" y="3154680"/>
            <a:ext cx="2286000" cy="2286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40% weight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520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4A4A"/>
                </a:solidFill>
              </a:rPr>
              <a:t>Blocked Tasks 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3520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</a:rPr>
              <a:t>21.6% variance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03520" y="3566160"/>
            <a:ext cx="2286000" cy="2286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30% weight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4A4A"/>
                </a:solidFill>
              </a:rPr>
              <a:t>Work Stop Days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3931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</a:rPr>
              <a:t>17.2% variance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03520" y="3977640"/>
            <a:ext cx="2286000" cy="228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20% weight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4A4A"/>
                </a:solidFill>
              </a:rPr>
              <a:t>Open Issues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4343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</a:rPr>
              <a:t>18.1% variance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03520" y="4389120"/>
            <a:ext cx="2286000" cy="22860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10% weight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POWER BI DASHBOARD - 9 PAGES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Executive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</a:rPr>
              <a:t>High-level summary for stakeholders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280160"/>
            <a:ext cx="26517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371600"/>
            <a:ext cx="457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06908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Delay 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</a:rPr>
              <a:t>Root cause analysis of project delays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280160"/>
            <a:ext cx="26517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371600"/>
            <a:ext cx="457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9516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Risk Scorecard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</a:rPr>
              <a:t>Detailed risk breakdown per project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331720"/>
            <a:ext cx="26517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4300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Task Performance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2880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</a:rPr>
              <a:t>Task completion &amp; critical path status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2331720"/>
            <a:ext cx="26517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0" y="2423160"/>
            <a:ext cx="457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06908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Issue Tracking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20440" y="2880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</a:rPr>
              <a:t>NCR, RFI &amp; Safety issue monitoring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2331720"/>
            <a:ext cx="26517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2423160"/>
            <a:ext cx="457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99516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Weather Impact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46520" y="2880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</a:rPr>
              <a:t>Weather-related delay analysis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383280"/>
            <a:ext cx="26517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14300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Contractor Performance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436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</a:rPr>
              <a:t>Contractor comparison metrics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83280" y="3383280"/>
            <a:ext cx="26517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474720" y="3474720"/>
            <a:ext cx="457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1" name="Text 39"/>
          <p:cNvSpPr/>
          <p:nvPr/>
        </p:nvSpPr>
        <p:spPr>
          <a:xfrm>
            <a:off x="34747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8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406908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Location Analysis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5204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</a:rPr>
              <a:t>Geographic risk patterns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09360" y="3383280"/>
            <a:ext cx="26517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400800" y="3474720"/>
            <a:ext cx="457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9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99516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Predictive Dashboard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44652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</a:rPr>
              <a:t>Early warning indicators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PAGE 1: EXECUTIVE OVERVIEW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8229600" cy="10972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457199" y="40919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</a:rPr>
              <a:t>KEY INSIGHTS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399" y="4434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Risk Distribution: 18-21 Low Risk, 5-8 Medium Risk, 2-3 High Risk projects</a:t>
            </a:r>
            <a:endParaRPr lang="en-US" sz="130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Projects showing delays require immediate management attention</a:t>
            </a:r>
            <a:endParaRPr lang="en-US" sz="130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Dashboard provides real-time visibility into project health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8485CA-E699-0462-04A6-BF0B4B44E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299" y="842146"/>
            <a:ext cx="6629401" cy="30774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PAGE 2: DELAY ANALYSIS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3951315"/>
            <a:ext cx="8229600" cy="10972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98733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</a:rPr>
              <a:t>KEY INSIGHTS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Material delays account for ~1000 occurrences per project (primary cause)</a:t>
            </a:r>
            <a:endParaRPr lang="en-US" sz="130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Strong correlation between risk score and delay days</a:t>
            </a:r>
            <a:endParaRPr lang="en-US" sz="130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Scatter plot identifies high-value projects with high delays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84A979-94D9-6762-80BC-424B357D9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572" y="818005"/>
            <a:ext cx="6629401" cy="30274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PAGE 3: RISK SCORECARD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3965167"/>
            <a:ext cx="8229600" cy="10972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9942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</a:rPr>
              <a:t>KEY INSIGHTS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Projects exceeding 60 risk score require escalation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Table shows which factors contribute most to each project risk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Clear visibility into risk components enables targeted action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873EE1-9EBA-1A44-60CE-14027D61A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571" y="828288"/>
            <a:ext cx="6629401" cy="30171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Risk Score Differentiation Success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Variance-based weighting achieved proper score spread (6.2 to 17.0)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1188720"/>
            <a:ext cx="41148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669280" y="1280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Delay Days Primary Indicator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16002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53.8% variance makes it the best predictor (40% weight in formula)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41148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2331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Blocked Tasks Critical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651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Projects with &gt;14.4% blocked tasks consistently show high risk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2240280"/>
            <a:ext cx="41148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669280" y="2331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Material Delays Dominate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2651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Supply chain issues are primary bottleneck (avg 1000 per project)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41148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👷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9728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Contractor Performance Varies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7033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Top contractors show 30% lower risk scores than bottom performers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3291840"/>
            <a:ext cx="41148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66928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Geographic Risk Patterns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0" y="37033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Certain locations show consistently higher delays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Technical Enhancements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• Machine Learning Integration (Random Forest, XGBoost)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• Real-time dashboard with auto-refresh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• Predictive analytics (30/60/90 day forecasts)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• Mobile dashboard for field managers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• Automated email/SMS alerts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1097280"/>
            <a:ext cx="41148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&amp; Analytics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1737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• Additional data sources (weather API, supplier tracking)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240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• Granular task tracking with hourly updates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2743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• Root cause analysis with statistical causality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3246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• Scenario planning &amp; what-if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3749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• Industry-wide benchmark database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CADCFC"/>
                </a:solidFill>
              </a:rPr>
              <a:t>Questions &amp; Discussion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</a:rPr>
              <a:t>
</a:t>
            </a:r>
            <a:endParaRPr lang="en-US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Syed Rehan Syed </a:t>
            </a:r>
            <a:r>
              <a:rPr lang="en-US" sz="1800" dirty="0" err="1">
                <a:solidFill>
                  <a:srgbClr val="FFFFFF"/>
                </a:solidFill>
              </a:rPr>
              <a:t>Hamedsaleem</a:t>
            </a:r>
            <a:r>
              <a:rPr lang="en-US" sz="1800" dirty="0">
                <a:solidFill>
                  <a:srgbClr val="FFFFFF"/>
                </a:solidFill>
              </a:rPr>
              <a:t>
</a:t>
            </a:r>
            <a:endParaRPr lang="en-US" sz="18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syedrhn0@gmail.com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783</Words>
  <Application>Microsoft Office PowerPoint</Application>
  <PresentationFormat>On-screen Show (16:9)</PresentationFormat>
  <Paragraphs>194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Construction Project Delay Risk Prediction System</dc:title>
  <dc:subject>PptxGenJS Presentation</dc:subject>
  <dc:creator>[Your Name]</dc:creator>
  <cp:lastModifiedBy>Care</cp:lastModifiedBy>
  <cp:revision>3</cp:revision>
  <dcterms:created xsi:type="dcterms:W3CDTF">2026-02-21T00:09:18Z</dcterms:created>
  <dcterms:modified xsi:type="dcterms:W3CDTF">2026-08-09T06:24:53Z</dcterms:modified>
</cp:coreProperties>
</file>